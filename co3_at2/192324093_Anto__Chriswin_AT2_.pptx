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5" r:id="rId10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IxK61gKurZG+iItt3kRt1Xr4U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40B1668-AC6C-CBD7-5A68-378242C8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>
            <a:extLst>
              <a:ext uri="{FF2B5EF4-FFF2-40B4-BE49-F238E27FC236}">
                <a16:creationId xmlns:a16="http://schemas.microsoft.com/office/drawing/2014/main" id="{474C81AC-CE5C-CC63-9CD2-E4168FF6A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8:notes">
            <a:extLst>
              <a:ext uri="{FF2B5EF4-FFF2-40B4-BE49-F238E27FC236}">
                <a16:creationId xmlns:a16="http://schemas.microsoft.com/office/drawing/2014/main" id="{A51B629B-AF04-404F-9AC7-839F4C314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3010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654812" y="1423873"/>
            <a:ext cx="11332845" cy="10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773683" y="2069972"/>
            <a:ext cx="9881235" cy="414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96542" y="150266"/>
            <a:ext cx="8595741" cy="88478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654812" y="1423873"/>
            <a:ext cx="11332845" cy="10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654812" y="1423873"/>
            <a:ext cx="11332845" cy="10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9867" y="160020"/>
            <a:ext cx="9709404" cy="11094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654812" y="1423873"/>
            <a:ext cx="11332845" cy="10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773683" y="2069972"/>
            <a:ext cx="9881235" cy="414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760" y="760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 extrusionOk="0">
                <a:moveTo>
                  <a:pt x="0" y="6856476"/>
                </a:moveTo>
                <a:lnTo>
                  <a:pt x="12190476" y="6856476"/>
                </a:lnTo>
                <a:lnTo>
                  <a:pt x="12190476" y="0"/>
                </a:lnTo>
                <a:lnTo>
                  <a:pt x="0" y="0"/>
                </a:lnTo>
                <a:lnTo>
                  <a:pt x="0" y="6856476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" name="Google Shape;46;p1" descr="$PPTXTitle"/>
          <p:cNvSpPr txBox="1">
            <a:spLocks noGrp="1"/>
          </p:cNvSpPr>
          <p:nvPr>
            <p:ph type="title"/>
          </p:nvPr>
        </p:nvSpPr>
        <p:spPr>
          <a:xfrm>
            <a:off x="1362074" y="2092543"/>
            <a:ext cx="9467850" cy="1243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algn="ctr"/>
            <a:r>
              <a:rPr lang="en-US" sz="4000" dirty="0"/>
              <a:t>Cleaning Customer Data for Better Business Decisions</a:t>
            </a:r>
            <a:endParaRPr dirty="0"/>
          </a:p>
        </p:txBody>
      </p:sp>
      <p:sp>
        <p:nvSpPr>
          <p:cNvPr id="47" name="Google Shape;47;p1"/>
          <p:cNvSpPr txBox="1"/>
          <p:nvPr/>
        </p:nvSpPr>
        <p:spPr>
          <a:xfrm>
            <a:off x="781049" y="3791528"/>
            <a:ext cx="10629900" cy="19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 dirty="0"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 dirty="0">
                <a:latin typeface="Times New Roman"/>
                <a:ea typeface="Times New Roman"/>
                <a:cs typeface="Times New Roman"/>
                <a:sym typeface="Times New Roman"/>
              </a:rPr>
              <a:t>Anto Chriswin G</a:t>
            </a:r>
            <a:r>
              <a:rPr lang="en-IN" sz="2500" dirty="0">
                <a:latin typeface="Times New Roman"/>
                <a:ea typeface="Times New Roman"/>
                <a:cs typeface="Times New Roman"/>
                <a:sym typeface="Times New Roman"/>
              </a:rPr>
              <a:t> - 192324093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00" b="1" dirty="0">
                <a:latin typeface="Times New Roman"/>
                <a:ea typeface="Times New Roman"/>
                <a:cs typeface="Times New Roman"/>
                <a:sym typeface="Times New Roman"/>
              </a:rPr>
              <a:t>Course:</a:t>
            </a:r>
            <a:r>
              <a:rPr lang="en-IN" sz="2500" dirty="0">
                <a:latin typeface="Times New Roman"/>
                <a:ea typeface="Times New Roman"/>
                <a:cs typeface="Times New Roman"/>
                <a:sym typeface="Times New Roman"/>
              </a:rPr>
              <a:t> DSA0503-Query Processing For Data Science</a:t>
            </a:r>
            <a:br>
              <a:rPr lang="en-IN" sz="25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500" b="1" dirty="0"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r>
              <a:rPr lang="en-IN" sz="2500" dirty="0">
                <a:latin typeface="Times New Roman"/>
                <a:ea typeface="Times New Roman"/>
                <a:cs typeface="Times New Roman"/>
                <a:sym typeface="Times New Roman"/>
              </a:rPr>
              <a:t> 11 Aug 2026</a:t>
            </a:r>
            <a:br>
              <a:rPr lang="en-IN" sz="25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500" b="1" dirty="0"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  <a:r>
              <a:rPr lang="en-IN" sz="2500" dirty="0">
                <a:latin typeface="Times New Roman"/>
                <a:ea typeface="Times New Roman"/>
                <a:cs typeface="Times New Roman"/>
                <a:sym typeface="Times New Roman"/>
              </a:rPr>
              <a:t> Dr. Anuradha</a:t>
            </a:r>
            <a:endParaRPr dirty="0"/>
          </a:p>
        </p:txBody>
      </p:sp>
      <p:sp>
        <p:nvSpPr>
          <p:cNvPr id="48" name="Google Shape;48;p1" descr="$PPTXTitle"/>
          <p:cNvSpPr txBox="1"/>
          <p:nvPr/>
        </p:nvSpPr>
        <p:spPr>
          <a:xfrm>
            <a:off x="3202622" y="1384547"/>
            <a:ext cx="5786755" cy="44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760" y="760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 extrusionOk="0">
                <a:moveTo>
                  <a:pt x="0" y="6856476"/>
                </a:moveTo>
                <a:lnTo>
                  <a:pt x="12190476" y="6856476"/>
                </a:lnTo>
                <a:lnTo>
                  <a:pt x="12190476" y="0"/>
                </a:lnTo>
                <a:lnTo>
                  <a:pt x="0" y="0"/>
                </a:lnTo>
                <a:lnTo>
                  <a:pt x="0" y="6856476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54" name="Google Shape;5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1204" y="286981"/>
            <a:ext cx="8349233" cy="105286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 txBox="1"/>
          <p:nvPr/>
        </p:nvSpPr>
        <p:spPr>
          <a:xfrm>
            <a:off x="1195401" y="2882001"/>
            <a:ext cx="9787861" cy="292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 is collected from sales, registrations, transactions, surveys, and online platforms.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customer datasets often contain missing values, duplicate records, incorrect formats, and inconsistent information.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Poor-quality data can lead to incorrect analysis and unreliable business decisions.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transforms raw customer data into a consistent, accurate, and analysis-ready dataset.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customer data helps businesses understand customer behavior, improve marketing, and make better strategic decisions.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2" descr="$PPTXTitle"/>
          <p:cNvSpPr txBox="1">
            <a:spLocks noGrp="1"/>
          </p:cNvSpPr>
          <p:nvPr>
            <p:ph type="title"/>
          </p:nvPr>
        </p:nvSpPr>
        <p:spPr>
          <a:xfrm>
            <a:off x="3927417" y="1991279"/>
            <a:ext cx="3474085" cy="54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760" y="760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 extrusionOk="0">
                <a:moveTo>
                  <a:pt x="0" y="6856476"/>
                </a:moveTo>
                <a:lnTo>
                  <a:pt x="12190476" y="6856476"/>
                </a:lnTo>
                <a:lnTo>
                  <a:pt x="12190476" y="0"/>
                </a:lnTo>
                <a:lnTo>
                  <a:pt x="0" y="0"/>
                </a:lnTo>
                <a:lnTo>
                  <a:pt x="0" y="6856476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2" name="Google Shape;62;p3" descr="$PPTXTitle"/>
          <p:cNvSpPr txBox="1">
            <a:spLocks noGrp="1"/>
          </p:cNvSpPr>
          <p:nvPr>
            <p:ph type="title"/>
          </p:nvPr>
        </p:nvSpPr>
        <p:spPr>
          <a:xfrm>
            <a:off x="1553051" y="1608986"/>
            <a:ext cx="9085898" cy="53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algn="ctr"/>
            <a:r>
              <a:rPr lang="en-IN" dirty="0"/>
              <a:t>PROBLEM STATEMENT</a:t>
            </a:r>
          </a:p>
        </p:txBody>
      </p:sp>
      <p:sp>
        <p:nvSpPr>
          <p:cNvPr id="64" name="Google Shape;64;p3"/>
          <p:cNvSpPr txBox="1"/>
          <p:nvPr/>
        </p:nvSpPr>
        <p:spPr>
          <a:xfrm>
            <a:off x="832747" y="2690812"/>
            <a:ext cx="7083615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50000"/>
              </a:lnSpc>
              <a:buSzPts val="2000"/>
            </a:pPr>
            <a:r>
              <a:rPr lang="en-I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Businesses often maintain customer datasets containing:</a:t>
            </a: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>
              <a:lnSpc>
                <a:spcPct val="150000"/>
              </a:lnSpc>
              <a:buSzPts val="2000"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Missing customer information</a:t>
            </a:r>
          </a:p>
          <a:p>
            <a:pPr marL="285750" lvl="0" indent="-285750" algn="just">
              <a:lnSpc>
                <a:spcPct val="150000"/>
              </a:lnSpc>
              <a:buSzPts val="2000"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Duplicate customer records</a:t>
            </a:r>
          </a:p>
          <a:p>
            <a:pPr marL="285750" lvl="0" indent="-285750" algn="just">
              <a:lnSpc>
                <a:spcPct val="150000"/>
              </a:lnSpc>
              <a:buSzPts val="2000"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Inconsistent names, cities, or categories</a:t>
            </a:r>
          </a:p>
          <a:p>
            <a:pPr marL="285750" lvl="0" indent="-285750" algn="just">
              <a:lnSpc>
                <a:spcPct val="150000"/>
              </a:lnSpc>
              <a:buSzPts val="2000"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Incorrect data types and formats</a:t>
            </a:r>
          </a:p>
          <a:p>
            <a:pPr marL="285750" lvl="0" indent="-285750" algn="just">
              <a:lnSpc>
                <a:spcPct val="150000"/>
              </a:lnSpc>
              <a:buSzPts val="2000"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Invalid or unrealistic values</a:t>
            </a:r>
          </a:p>
          <a:p>
            <a:pPr marL="285750" lvl="0" indent="-285750" algn="just">
              <a:lnSpc>
                <a:spcPct val="150000"/>
              </a:lnSpc>
              <a:buSzPts val="2000"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Outliers in numerical attributes</a:t>
            </a:r>
            <a:endParaRPr sz="1200" dirty="0"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1509" y="1572777"/>
            <a:ext cx="1364901" cy="14770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4;p3">
            <a:extLst>
              <a:ext uri="{FF2B5EF4-FFF2-40B4-BE49-F238E27FC236}">
                <a16:creationId xmlns:a16="http://schemas.microsoft.com/office/drawing/2014/main" id="{F8133198-41F9-A7DC-1E98-82609FE846F3}"/>
              </a:ext>
            </a:extLst>
          </p:cNvPr>
          <p:cNvSpPr txBox="1"/>
          <p:nvPr/>
        </p:nvSpPr>
        <p:spPr>
          <a:xfrm>
            <a:off x="5963946" y="4067549"/>
            <a:ext cx="5857125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Unclean Data → Incorrect Analysis → Poor Business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760" y="760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 extrusionOk="0">
                <a:moveTo>
                  <a:pt x="0" y="6856476"/>
                </a:moveTo>
                <a:lnTo>
                  <a:pt x="12190476" y="6856476"/>
                </a:lnTo>
                <a:lnTo>
                  <a:pt x="12190476" y="0"/>
                </a:lnTo>
                <a:lnTo>
                  <a:pt x="0" y="0"/>
                </a:lnTo>
                <a:lnTo>
                  <a:pt x="0" y="6856476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" name="Google Shape;71;p4" descr="$PPTXTitle"/>
          <p:cNvSpPr txBox="1">
            <a:spLocks noGrp="1"/>
          </p:cNvSpPr>
          <p:nvPr>
            <p:ph type="title"/>
          </p:nvPr>
        </p:nvSpPr>
        <p:spPr>
          <a:xfrm>
            <a:off x="1618194" y="1641620"/>
            <a:ext cx="8839200" cy="53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algn="ctr"/>
            <a:r>
              <a:rPr lang="en-IN" dirty="0"/>
              <a:t>OBJECTIVES</a:t>
            </a:r>
          </a:p>
        </p:txBody>
      </p:sp>
      <p:sp>
        <p:nvSpPr>
          <p:cNvPr id="74" name="Google Shape;74;p4"/>
          <p:cNvSpPr txBox="1"/>
          <p:nvPr/>
        </p:nvSpPr>
        <p:spPr>
          <a:xfrm>
            <a:off x="1130498" y="2349427"/>
            <a:ext cx="10267175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handle missing or incomplete customer information to ensure that important customer attributes are available and suitable for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 and standardize inconsistent data such as customer names, gender, city names, categories, and other categorical values.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data types and detect invalid values or outliers, including unrealistic ages, negative income or spending values, and unusual customer behavior.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clean and reliable customer dataset that improves the accuracy of customer analysis, supports meaningful business insights, and enables better data-driven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760" y="760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 extrusionOk="0">
                <a:moveTo>
                  <a:pt x="0" y="6856476"/>
                </a:moveTo>
                <a:lnTo>
                  <a:pt x="12190476" y="6856476"/>
                </a:lnTo>
                <a:lnTo>
                  <a:pt x="12190476" y="0"/>
                </a:lnTo>
                <a:lnTo>
                  <a:pt x="0" y="0"/>
                </a:lnTo>
                <a:lnTo>
                  <a:pt x="0" y="6856476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5" name="Google Shape;85;p5" descr="$PPTXTitle"/>
          <p:cNvSpPr txBox="1">
            <a:spLocks noGrp="1"/>
          </p:cNvSpPr>
          <p:nvPr>
            <p:ph type="title"/>
          </p:nvPr>
        </p:nvSpPr>
        <p:spPr>
          <a:xfrm>
            <a:off x="1219200" y="1963338"/>
            <a:ext cx="9753600" cy="105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SALES FORECASTING WORKFLOW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C6ACA-32B4-7427-33FB-678D74D8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45" y="3524134"/>
            <a:ext cx="11406910" cy="11726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7" descr="A blue and yellow logo with a black background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1383" y="301313"/>
            <a:ext cx="8349233" cy="105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 descr="$PPTXTitle"/>
          <p:cNvSpPr txBox="1">
            <a:spLocks noGrp="1"/>
          </p:cNvSpPr>
          <p:nvPr>
            <p:ph type="title"/>
          </p:nvPr>
        </p:nvSpPr>
        <p:spPr>
          <a:xfrm>
            <a:off x="2890518" y="1637180"/>
            <a:ext cx="6410962" cy="53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RESULTS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42F76-BFD6-48F4-F620-414645080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44" y="2320984"/>
            <a:ext cx="5915747" cy="42357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1D05DF-4B61-2AA2-F196-AE3650820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55582"/>
            <a:ext cx="5586910" cy="2765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 descr="$PPTXTitle"/>
          <p:cNvSpPr txBox="1">
            <a:spLocks noGrp="1"/>
          </p:cNvSpPr>
          <p:nvPr>
            <p:ph type="title"/>
          </p:nvPr>
        </p:nvSpPr>
        <p:spPr>
          <a:xfrm>
            <a:off x="3689461" y="1657927"/>
            <a:ext cx="4813072" cy="53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algn="ctr"/>
            <a:r>
              <a:rPr lang="en-IN" dirty="0"/>
              <a:t>BUSINESS BENEFITS</a:t>
            </a:r>
          </a:p>
        </p:txBody>
      </p:sp>
      <p:sp>
        <p:nvSpPr>
          <p:cNvPr id="110" name="Google Shape;110;p8"/>
          <p:cNvSpPr txBox="1"/>
          <p:nvPr/>
        </p:nvSpPr>
        <p:spPr>
          <a:xfrm>
            <a:off x="1161469" y="2311400"/>
            <a:ext cx="9949876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customer data enables businesses to: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customers by analyzing customer spending patterns and purchase frequency to focus resources on the most valuable customers.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segmentation by grouping customers based on their spending, income, purchasing behavior, and other relevant characteristics.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targeted marketing campaigns by using reliable customer information to deliver personalized offers and promotions to specific customer groups.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purchasing behavior by analyzing customer preferences, purchase frequency, spending patterns, and satisfaction levels.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1E131444-B7BB-444E-554A-35F2A3DB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 descr="$PPTXTitle">
            <a:extLst>
              <a:ext uri="{FF2B5EF4-FFF2-40B4-BE49-F238E27FC236}">
                <a16:creationId xmlns:a16="http://schemas.microsoft.com/office/drawing/2014/main" id="{80854645-55DA-D4B2-F678-F7469E182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2237" y="1676400"/>
            <a:ext cx="4287521" cy="53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110" name="Google Shape;110;p8">
            <a:extLst>
              <a:ext uri="{FF2B5EF4-FFF2-40B4-BE49-F238E27FC236}">
                <a16:creationId xmlns:a16="http://schemas.microsoft.com/office/drawing/2014/main" id="{B4738139-BD16-C9C6-F139-22BB8CDC3F9C}"/>
              </a:ext>
            </a:extLst>
          </p:cNvPr>
          <p:cNvSpPr txBox="1"/>
          <p:nvPr/>
        </p:nvSpPr>
        <p:spPr>
          <a:xfrm>
            <a:off x="1033314" y="2348345"/>
            <a:ext cx="10125366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SzPts val="2000"/>
              <a:buFont typeface="Arial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Customer data quality is critical for reliable business analytics.</a:t>
            </a:r>
          </a:p>
          <a:p>
            <a:pPr marL="342900" lvl="0" indent="-342900" algn="just">
              <a:lnSpc>
                <a:spcPct val="150000"/>
              </a:lnSpc>
              <a:buSzPts val="2000"/>
              <a:buFont typeface="Arial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Data cleaning addresses missing values, duplicates, inconsistencies, invalid values, and outliers.</a:t>
            </a:r>
          </a:p>
          <a:p>
            <a:pPr marL="342900" lvl="0" indent="-342900" algn="just">
              <a:lnSpc>
                <a:spcPct val="150000"/>
              </a:lnSpc>
              <a:buSzPts val="2000"/>
              <a:buFont typeface="Arial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Python libraries such as Pandas and NumPy provide efficient tools for preprocessing customer data.</a:t>
            </a:r>
          </a:p>
          <a:p>
            <a:pPr marL="342900" lvl="0" indent="-342900" algn="just">
              <a:lnSpc>
                <a:spcPct val="150000"/>
              </a:lnSpc>
              <a:buSzPts val="2000"/>
              <a:buFont typeface="Arial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cleaned dataset provides a reliable foundation for customer segmentation, prediction, marketing analysis, and business intelligence.</a:t>
            </a:r>
          </a:p>
          <a:p>
            <a:pPr marL="342900" lvl="0" indent="-342900" algn="just">
              <a:lnSpc>
                <a:spcPct val="150000"/>
              </a:lnSpc>
              <a:buSzPts val="2000"/>
              <a:buFont typeface="Arial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Therefore, effective data cleaning leads to more accurate insights and better business decisions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603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/>
        </p:nvSpPr>
        <p:spPr>
          <a:xfrm>
            <a:off x="-1181" y="0"/>
            <a:ext cx="1671955" cy="1567815"/>
          </a:xfrm>
          <a:custGeom>
            <a:avLst/>
            <a:gdLst/>
            <a:ahLst/>
            <a:cxnLst/>
            <a:rect l="l" t="t" r="r" b="b"/>
            <a:pathLst>
              <a:path w="1671955" h="1567815" extrusionOk="0">
                <a:moveTo>
                  <a:pt x="1671866" y="275475"/>
                </a:moveTo>
                <a:lnTo>
                  <a:pt x="1396403" y="0"/>
                </a:lnTo>
                <a:lnTo>
                  <a:pt x="0" y="0"/>
                </a:lnTo>
                <a:lnTo>
                  <a:pt x="0" y="1188339"/>
                </a:lnTo>
                <a:lnTo>
                  <a:pt x="379514" y="1567815"/>
                </a:lnTo>
                <a:lnTo>
                  <a:pt x="980821" y="966508"/>
                </a:lnTo>
                <a:lnTo>
                  <a:pt x="1215504" y="1201166"/>
                </a:lnTo>
                <a:lnTo>
                  <a:pt x="1671866" y="744855"/>
                </a:lnTo>
                <a:lnTo>
                  <a:pt x="1437157" y="510184"/>
                </a:lnTo>
                <a:lnTo>
                  <a:pt x="1671866" y="275475"/>
                </a:lnTo>
                <a:close/>
              </a:path>
            </a:pathLst>
          </a:custGeom>
          <a:solidFill>
            <a:srgbClr val="4F81BC">
              <a:alpha val="3019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2" name="Google Shape;122;p10"/>
          <p:cNvSpPr/>
          <p:nvPr/>
        </p:nvSpPr>
        <p:spPr>
          <a:xfrm>
            <a:off x="9356598" y="0"/>
            <a:ext cx="2835910" cy="1485265"/>
          </a:xfrm>
          <a:custGeom>
            <a:avLst/>
            <a:gdLst/>
            <a:ahLst/>
            <a:cxnLst/>
            <a:rect l="l" t="t" r="r" b="b"/>
            <a:pathLst>
              <a:path w="2835909" h="1485265" extrusionOk="0">
                <a:moveTo>
                  <a:pt x="2835402" y="0"/>
                </a:moveTo>
                <a:lnTo>
                  <a:pt x="0" y="0"/>
                </a:lnTo>
                <a:lnTo>
                  <a:pt x="789965" y="753338"/>
                </a:lnTo>
                <a:lnTo>
                  <a:pt x="544449" y="998855"/>
                </a:lnTo>
                <a:lnTo>
                  <a:pt x="1030605" y="1485011"/>
                </a:lnTo>
                <a:lnTo>
                  <a:pt x="1287653" y="1227963"/>
                </a:lnTo>
                <a:lnTo>
                  <a:pt x="1552829" y="1480820"/>
                </a:lnTo>
                <a:lnTo>
                  <a:pt x="2835402" y="257556"/>
                </a:lnTo>
                <a:lnTo>
                  <a:pt x="2835402" y="0"/>
                </a:lnTo>
                <a:close/>
              </a:path>
            </a:pathLst>
          </a:custGeom>
          <a:solidFill>
            <a:srgbClr val="8063A1">
              <a:alpha val="3019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3" name="Google Shape;123;p10"/>
          <p:cNvSpPr/>
          <p:nvPr/>
        </p:nvSpPr>
        <p:spPr>
          <a:xfrm>
            <a:off x="7604125" y="6115494"/>
            <a:ext cx="1866900" cy="742950"/>
          </a:xfrm>
          <a:custGeom>
            <a:avLst/>
            <a:gdLst/>
            <a:ahLst/>
            <a:cxnLst/>
            <a:rect l="l" t="t" r="r" b="b"/>
            <a:pathLst>
              <a:path w="1866900" h="742950" extrusionOk="0">
                <a:moveTo>
                  <a:pt x="1866773" y="742505"/>
                </a:moveTo>
                <a:lnTo>
                  <a:pt x="1119505" y="0"/>
                </a:lnTo>
                <a:lnTo>
                  <a:pt x="593534" y="522617"/>
                </a:lnTo>
                <a:lnTo>
                  <a:pt x="407416" y="337642"/>
                </a:lnTo>
                <a:lnTo>
                  <a:pt x="0" y="742505"/>
                </a:lnTo>
                <a:lnTo>
                  <a:pt x="372237" y="742505"/>
                </a:lnTo>
                <a:lnTo>
                  <a:pt x="814832" y="742505"/>
                </a:lnTo>
                <a:lnTo>
                  <a:pt x="1866773" y="742505"/>
                </a:lnTo>
                <a:close/>
              </a:path>
            </a:pathLst>
          </a:custGeom>
          <a:solidFill>
            <a:srgbClr val="4F81BC">
              <a:alpha val="3019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24" name="Google Shape;124;p10" descr="Thank you Vectors - Download Free High-Quality Vectors from Freepik |  Freepi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1750" y="933450"/>
            <a:ext cx="704850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435</Words>
  <Application>Microsoft Office PowerPoint</Application>
  <PresentationFormat>Widescreen</PresentationFormat>
  <Paragraphs>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Cleaning Customer Data for Better Business Decisions</vt:lpstr>
      <vt:lpstr>INTRODUCTION</vt:lpstr>
      <vt:lpstr>PROBLEM STATEMENT</vt:lpstr>
      <vt:lpstr>OBJECTIVES</vt:lpstr>
      <vt:lpstr>SALES FORECASTING WORKFLOW</vt:lpstr>
      <vt:lpstr>RESULTS</vt:lpstr>
      <vt:lpstr>BUSINESS BENEFITS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anto chriswin</dc:creator>
  <cp:lastModifiedBy>anto chriswin</cp:lastModifiedBy>
  <cp:revision>2</cp:revision>
  <dcterms:created xsi:type="dcterms:W3CDTF">2026-07-15T15:27:39Z</dcterms:created>
  <dcterms:modified xsi:type="dcterms:W3CDTF">2026-08-11T16:33:31Z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2026-01-30T00:00:00Z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2026-07-15T00:00:00Z</vt:filetime>
  </property>
  <property fmtid="{D5CDD505-2E9C-101B-9397-08002B2CF9AE}" pid="6" name="Producer">
    <vt:lpwstr>Microsoft® PowerPoint® 2021</vt:lpwstr>
  </property>
</Properties>
</file>